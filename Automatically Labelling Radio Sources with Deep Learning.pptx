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D21D248B-5C72-4070-A5E1-2E3BA1AD50FB}" type="datetimeFigureOut">
              <a:rPr lang="en-ZA" smtClean="0"/>
              <a:t>2025/11/07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62907CB-B0B3-45C8-B1A1-A0EAABDD79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28174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D248B-5C72-4070-A5E1-2E3BA1AD50FB}" type="datetimeFigureOut">
              <a:rPr lang="en-ZA" smtClean="0"/>
              <a:t>2025/11/07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907CB-B0B3-45C8-B1A1-A0EAABDD79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61822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D248B-5C72-4070-A5E1-2E3BA1AD50FB}" type="datetimeFigureOut">
              <a:rPr lang="en-ZA" smtClean="0"/>
              <a:t>2025/11/07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907CB-B0B3-45C8-B1A1-A0EAABDD79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7146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D248B-5C72-4070-A5E1-2E3BA1AD50FB}" type="datetimeFigureOut">
              <a:rPr lang="en-ZA" smtClean="0"/>
              <a:t>2025/11/07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907CB-B0B3-45C8-B1A1-A0EAABDD79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84865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D248B-5C72-4070-A5E1-2E3BA1AD50FB}" type="datetimeFigureOut">
              <a:rPr lang="en-ZA" smtClean="0"/>
              <a:t>2025/11/07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907CB-B0B3-45C8-B1A1-A0EAABDD79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0545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D248B-5C72-4070-A5E1-2E3BA1AD50FB}" type="datetimeFigureOut">
              <a:rPr lang="en-ZA" smtClean="0"/>
              <a:t>2025/11/07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907CB-B0B3-45C8-B1A1-A0EAABDD79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19101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D248B-5C72-4070-A5E1-2E3BA1AD50FB}" type="datetimeFigureOut">
              <a:rPr lang="en-ZA" smtClean="0"/>
              <a:t>2025/11/07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907CB-B0B3-45C8-B1A1-A0EAABDD79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03661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D248B-5C72-4070-A5E1-2E3BA1AD50FB}" type="datetimeFigureOut">
              <a:rPr lang="en-ZA" smtClean="0"/>
              <a:t>2025/11/07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907CB-B0B3-45C8-B1A1-A0EAABDD79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59524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D248B-5C72-4070-A5E1-2E3BA1AD50FB}" type="datetimeFigureOut">
              <a:rPr lang="en-ZA" smtClean="0"/>
              <a:t>2025/11/07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907CB-B0B3-45C8-B1A1-A0EAABDD79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09437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D248B-5C72-4070-A5E1-2E3BA1AD50FB}" type="datetimeFigureOut">
              <a:rPr lang="en-ZA" smtClean="0"/>
              <a:t>2025/11/07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907CB-B0B3-45C8-B1A1-A0EAABDD79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7866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D248B-5C72-4070-A5E1-2E3BA1AD50FB}" type="datetimeFigureOut">
              <a:rPr lang="en-ZA" smtClean="0"/>
              <a:t>2025/11/07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907CB-B0B3-45C8-B1A1-A0EAABDD79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69247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D248B-5C72-4070-A5E1-2E3BA1AD50FB}" type="datetimeFigureOut">
              <a:rPr lang="en-ZA" smtClean="0"/>
              <a:t>2025/11/07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907CB-B0B3-45C8-B1A1-A0EAABDD79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614787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D248B-5C72-4070-A5E1-2E3BA1AD50FB}" type="datetimeFigureOut">
              <a:rPr lang="en-ZA" smtClean="0"/>
              <a:t>2025/11/07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907CB-B0B3-45C8-B1A1-A0EAABDD79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928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D248B-5C72-4070-A5E1-2E3BA1AD50FB}" type="datetimeFigureOut">
              <a:rPr lang="en-ZA" smtClean="0"/>
              <a:t>2025/11/07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907CB-B0B3-45C8-B1A1-A0EAABDD79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562261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D248B-5C72-4070-A5E1-2E3BA1AD50FB}" type="datetimeFigureOut">
              <a:rPr lang="en-ZA" smtClean="0"/>
              <a:t>2025/11/07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907CB-B0B3-45C8-B1A1-A0EAABDD79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36114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D248B-5C72-4070-A5E1-2E3BA1AD50FB}" type="datetimeFigureOut">
              <a:rPr lang="en-ZA" smtClean="0"/>
              <a:t>2025/11/07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907CB-B0B3-45C8-B1A1-A0EAABDD79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579350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D248B-5C72-4070-A5E1-2E3BA1AD50FB}" type="datetimeFigureOut">
              <a:rPr lang="en-ZA" smtClean="0"/>
              <a:t>2025/11/07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907CB-B0B3-45C8-B1A1-A0EAABDD79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847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21D248B-5C72-4070-A5E1-2E3BA1AD50FB}" type="datetimeFigureOut">
              <a:rPr lang="en-ZA" smtClean="0"/>
              <a:t>2025/11/07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62907CB-B0B3-45C8-B1A1-A0EAABDD79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555048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32A42-A451-62D8-382E-55F0A4990F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7137" y="1841640"/>
            <a:ext cx="7197726" cy="242146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Automatically Labelling Radio Sources with Deep Learning</a:t>
            </a:r>
            <a:endParaRPr lang="en-ZA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F2F9D2-1E0E-3F69-CEB4-258B518FAA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3676" y="5243049"/>
            <a:ext cx="7197726" cy="1405467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Group: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Lesedi Ntsele (u25265182)</a:t>
            </a:r>
            <a:endParaRPr lang="en-ZA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389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E11CF-5979-AF79-F576-E2A7D64C1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introduction</a:t>
            </a:r>
            <a:endParaRPr lang="en-ZA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2F87A-4DC8-A8EB-B30B-9E16BF113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Deep Learning and Radio Source Classification</a:t>
            </a:r>
          </a:p>
          <a:p>
            <a:pPr marL="0" indent="0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Deep learning refers to a modern branch of neural network models that learn 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hierarchical representations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of data, rather than relying on a single complex transformation between inputs and outputs.</a:t>
            </a:r>
          </a:p>
          <a:p>
            <a:pPr marL="0" indent="0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Architectures such as 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Convolutional Neural Networks (CNNs)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Transformers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have achieved remarkable success in 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image recognition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natural language processing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this project, we apply 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deep learning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a real-world 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computer vision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task —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automatically labelling radio sources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observed by the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MeerKAT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telescope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as part of the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MeerKAT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Galaxy Cluster Legacy Survey (MGCLS)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92496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CC4AF-0906-6FDC-7750-71018AAE7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Project objectives </a:t>
            </a:r>
            <a:endParaRPr lang="en-ZA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3422B-DEEA-4869-F46B-B5449F191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466532"/>
            <a:ext cx="10131425" cy="364913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Main Goal</a:t>
            </a:r>
          </a:p>
          <a:p>
            <a:pPr marL="0" indent="0">
              <a:buNone/>
            </a:pPr>
            <a:r>
              <a:rPr lang="en-US"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 create a deep learning system that can use a  limited set of labelled data to automatically label radio source photos from the </a:t>
            </a:r>
            <a:r>
              <a:rPr lang="en-US" sz="21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MeerKAT</a:t>
            </a:r>
            <a:r>
              <a:rPr lang="en-US"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observatory. </a:t>
            </a:r>
          </a:p>
          <a:p>
            <a:pPr marL="0" indent="0">
              <a:buNone/>
            </a:pPr>
            <a:endParaRPr lang="en-US" sz="2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2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Team Approach</a:t>
            </a:r>
          </a:p>
          <a:p>
            <a:pPr marL="0" indent="0">
              <a:buNone/>
            </a:pPr>
            <a:r>
              <a:rPr lang="en-US"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Our team implemented </a:t>
            </a:r>
            <a:r>
              <a:rPr lang="en-US" sz="2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three different CNN-based strategies</a:t>
            </a:r>
            <a:r>
              <a:rPr lang="en-US"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explore which method performs best:</a:t>
            </a:r>
          </a:p>
          <a:p>
            <a:r>
              <a:rPr lang="en-US" sz="2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Basic CNN:</a:t>
            </a:r>
            <a:br>
              <a:rPr lang="en-US"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standard convolutional neural network trained from scratch on labelled images.</a:t>
            </a:r>
          </a:p>
          <a:p>
            <a:r>
              <a:rPr lang="en-US" sz="2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Transfer Learning:</a:t>
            </a:r>
            <a:br>
              <a:rPr lang="en-US"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1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Utilised</a:t>
            </a:r>
            <a:r>
              <a:rPr lang="en-US"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pre-trained CNN (e.g., </a:t>
            </a:r>
            <a:r>
              <a:rPr lang="en-US" sz="21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EfficientNet</a:t>
            </a:r>
            <a:r>
              <a:rPr lang="en-US"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 </a:t>
            </a:r>
            <a:r>
              <a:rPr lang="en-US" sz="21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ResNet</a:t>
            </a:r>
            <a:r>
              <a:rPr lang="en-US"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fine-tuned on our radio source dataset.</a:t>
            </a:r>
          </a:p>
          <a:p>
            <a:r>
              <a:rPr lang="en-US" sz="2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Pseudo-Labeling (My Model):</a:t>
            </a:r>
            <a:br>
              <a:rPr lang="en-US"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semi-supervised method that uses predictions on </a:t>
            </a:r>
            <a:r>
              <a:rPr lang="en-US" sz="21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unlabelled</a:t>
            </a:r>
            <a:r>
              <a:rPr lang="en-US"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 as temporary labels to expand the training set.</a:t>
            </a:r>
          </a:p>
          <a:p>
            <a:pPr marL="0" indent="0">
              <a:buNone/>
            </a:pPr>
            <a:endParaRPr lang="en-US" sz="21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34877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EE520-253D-69BA-D1DC-FC6C0DDCC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b="1" dirty="0">
                <a:latin typeface="Segoe UI" panose="020B0502040204020203" pitchFamily="34" charset="0"/>
                <a:cs typeface="Segoe UI" panose="020B0502040204020203" pitchFamily="34" charset="0"/>
              </a:rPr>
              <a:t>Pseudo-</a:t>
            </a:r>
            <a:r>
              <a:rPr lang="en-ZA" b="1" dirty="0" err="1">
                <a:latin typeface="Segoe UI" panose="020B0502040204020203" pitchFamily="34" charset="0"/>
                <a:cs typeface="Segoe UI" panose="020B0502040204020203" pitchFamily="34" charset="0"/>
              </a:rPr>
              <a:t>Labeling</a:t>
            </a:r>
            <a:r>
              <a:rPr lang="en-ZA" b="1" dirty="0">
                <a:latin typeface="Segoe UI" panose="020B0502040204020203" pitchFamily="34" charset="0"/>
                <a:cs typeface="Segoe UI" panose="020B0502040204020203" pitchFamily="34" charset="0"/>
              </a:rPr>
              <a:t> Approach</a:t>
            </a:r>
            <a:endParaRPr lang="en-ZA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637DA-1FEF-7820-21DF-E444527FC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Overview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Pseudo-labeling is a semi-supervised learning technique.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model is first trained on a small labelled dataset, then used to predict labels for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unlabelled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data.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predicted labels (“pseudo-labels”) are then added back into training to improve performance.</a:t>
            </a:r>
          </a:p>
          <a:p>
            <a:pPr marL="0" indent="0">
              <a:buNone/>
            </a:pP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Why I Chose This Approach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dataset had many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unlabelled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radio sources, making it ideal for a self-training method.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goal was to leverage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unlabelled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 to improve model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generalisation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67946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6119-3BE9-D730-F7A1-A3BB2C27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latin typeface="Arial Black" panose="020B0A04020102020204" pitchFamily="34" charset="0"/>
              </a:rPr>
              <a:t>Dataset Preparation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7FB42-4E4F-63F1-56CC-85C529BCB0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ZA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Sources</a:t>
            </a:r>
          </a:p>
          <a:p>
            <a:r>
              <a:rPr lang="en-ZA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Label information provided in </a:t>
            </a:r>
            <a:r>
              <a:rPr lang="en-ZA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labels.csv</a:t>
            </a:r>
            <a:r>
              <a:rPr lang="en-ZA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file, matched to image coordinates (</a:t>
            </a:r>
            <a:r>
              <a:rPr lang="en-ZA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</a:t>
            </a:r>
            <a:r>
              <a:rPr lang="en-ZA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dec).</a:t>
            </a:r>
          </a:p>
          <a:p>
            <a:r>
              <a:rPr lang="en-ZA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Images divided into:</a:t>
            </a:r>
          </a:p>
          <a:p>
            <a:pPr lvl="1"/>
            <a:r>
              <a:rPr lang="en-ZA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Labeled</a:t>
            </a:r>
            <a:r>
              <a:rPr lang="en-ZA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data:</a:t>
            </a:r>
            <a:r>
              <a:rPr lang="en-Z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“typical” and “exotic” radio sources</a:t>
            </a:r>
          </a:p>
          <a:p>
            <a:pPr lvl="1"/>
            <a:r>
              <a:rPr lang="en-ZA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Unlabeled</a:t>
            </a:r>
            <a:r>
              <a:rPr lang="en-ZA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data:</a:t>
            </a:r>
            <a:r>
              <a:rPr lang="en-Z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additional </a:t>
            </a:r>
            <a:r>
              <a:rPr lang="en-ZA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MeerKAT</a:t>
            </a:r>
            <a:r>
              <a:rPr lang="en-Z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images used for pseudo-labelling</a:t>
            </a:r>
          </a:p>
          <a:p>
            <a:endParaRPr lang="en-ZA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95AC13-7297-4186-3FD1-7135ACFB7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21894" y="2820492"/>
            <a:ext cx="4995332" cy="3649133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endParaRPr lang="en-ZA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Preprocessing Steps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Extracted coordinates from image filenames and matched them to the closest labelled points.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Split labelled data into 80% training and 20% validation.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Handled class imbalance using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RandomOverSampler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equalize class counts.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Applied data augmentation to boost variety:</a:t>
            </a:r>
          </a:p>
          <a:p>
            <a:pPr lvl="1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Horizontal &amp; vertical flips</a:t>
            </a:r>
          </a:p>
          <a:p>
            <a:pPr lvl="1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Rotations (±20°)</a:t>
            </a:r>
          </a:p>
          <a:p>
            <a:pPr lvl="1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Zoom, width &amp; height shifts</a:t>
            </a:r>
          </a:p>
          <a:p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Normalised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pixel values (rescale = 1/255) for stable CNN training.</a:t>
            </a:r>
          </a:p>
          <a:p>
            <a:pPr marL="457200" lvl="1" indent="0">
              <a:buNone/>
            </a:pPr>
            <a:endParaRPr lang="en-ZA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ZA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ZA" sz="1400" dirty="0"/>
          </a:p>
        </p:txBody>
      </p:sp>
    </p:spTree>
    <p:extLst>
      <p:ext uri="{BB962C8B-B14F-4D97-AF65-F5344CB8AC3E}">
        <p14:creationId xmlns:p14="http://schemas.microsoft.com/office/powerpoint/2010/main" val="3822593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D76C9-357B-6D8D-D579-6C3D8EF2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latin typeface="Arial Black" panose="020B0A04020102020204" pitchFamily="34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A52AD-757D-A648-4926-94E2D64A7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1" y="2599266"/>
            <a:ext cx="4995334" cy="36491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ZA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Architecture</a:t>
            </a:r>
          </a:p>
          <a:p>
            <a:r>
              <a:rPr lang="en-ZA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 model:</a:t>
            </a:r>
            <a:r>
              <a:rPr lang="en-ZA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EfficientNetB0 CNN</a:t>
            </a:r>
          </a:p>
          <a:p>
            <a:pPr lvl="1"/>
            <a:r>
              <a:rPr lang="en-Z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Pre-trained on </a:t>
            </a:r>
            <a:r>
              <a:rPr lang="en-ZA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ImageNet</a:t>
            </a:r>
            <a:endParaRPr lang="en-Z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Z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 size: 128×128×3</a:t>
            </a:r>
          </a:p>
          <a:p>
            <a:r>
              <a:rPr lang="en-ZA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Added layers:</a:t>
            </a:r>
            <a:endParaRPr lang="en-ZA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Z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Global Average Pooling → Dropout (0.5) → Dense layer with </a:t>
            </a:r>
            <a:r>
              <a:rPr lang="en-ZA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softmax</a:t>
            </a:r>
            <a:r>
              <a:rPr lang="en-Z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9 classes</a:t>
            </a:r>
          </a:p>
          <a:p>
            <a:r>
              <a:rPr lang="en-ZA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Training settings:</a:t>
            </a:r>
            <a:endParaRPr lang="en-ZA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Z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Optimizer: Adam (learning rate 0.01)</a:t>
            </a:r>
          </a:p>
          <a:p>
            <a:pPr lvl="1"/>
            <a:r>
              <a:rPr lang="en-Z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Loss: Categorical Cross-Entropy</a:t>
            </a:r>
          </a:p>
          <a:p>
            <a:pPr lvl="1"/>
            <a:r>
              <a:rPr lang="en-Z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Epochs: 10 (training interrupted early)</a:t>
            </a:r>
          </a:p>
          <a:p>
            <a:pPr lvl="1"/>
            <a:r>
              <a:rPr lang="en-Z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Batch size: 32</a:t>
            </a:r>
          </a:p>
          <a:p>
            <a:endParaRPr lang="en-ZA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6196A-3351-959D-55F7-3D74A4C86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21894" y="1729112"/>
            <a:ext cx="4995332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Pseudo-Labelling Procedure</a:t>
            </a:r>
          </a:p>
          <a:p>
            <a:pPr marL="342900" indent="-342900">
              <a:buFont typeface="+mj-lt"/>
              <a:buAutoNum type="arabicPeriod"/>
            </a:pPr>
            <a:r>
              <a:rPr lang="en-ZA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Train base CNN</a:t>
            </a:r>
            <a:r>
              <a:rPr lang="en-ZA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on labelled data only.</a:t>
            </a:r>
          </a:p>
          <a:p>
            <a:pPr marL="342900" indent="-342900">
              <a:buFont typeface="+mj-lt"/>
              <a:buAutoNum type="arabicPeriod"/>
            </a:pPr>
            <a:r>
              <a:rPr lang="en-ZA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Predict labels</a:t>
            </a:r>
            <a:r>
              <a:rPr lang="en-ZA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unlabelled images.</a:t>
            </a:r>
          </a:p>
          <a:p>
            <a:pPr marL="342900" indent="-342900">
              <a:buFont typeface="+mj-lt"/>
              <a:buAutoNum type="arabicPeriod"/>
            </a:pPr>
            <a:r>
              <a:rPr lang="en-ZA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Combine pseudo-labelled data</a:t>
            </a:r>
            <a:r>
              <a:rPr lang="en-ZA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with original labelled dataset.</a:t>
            </a:r>
          </a:p>
          <a:p>
            <a:pPr marL="342900" indent="-342900">
              <a:buFont typeface="+mj-lt"/>
              <a:buAutoNum type="arabicPeriod"/>
            </a:pPr>
            <a:r>
              <a:rPr lang="en-ZA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Retrain CNN</a:t>
            </a:r>
            <a:r>
              <a:rPr lang="en-ZA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on combined dataset to improve coverage.</a:t>
            </a:r>
          </a:p>
          <a:p>
            <a:endParaRPr lang="en-ZA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128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DEF34-A272-A45C-1270-1ED38DD7C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latin typeface="Arial Black" panose="020B0A04020102020204" pitchFamily="34" charset="0"/>
              </a:rPr>
              <a:t>Results &amp;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96345-395B-BEF0-88CF-6D31C7FCE4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1" y="2299383"/>
            <a:ext cx="4995334" cy="3649134"/>
          </a:xfrm>
        </p:spPr>
        <p:txBody>
          <a:bodyPr>
            <a:noAutofit/>
          </a:bodyPr>
          <a:lstStyle/>
          <a:p>
            <a:r>
              <a:rPr lang="en-ZA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Training Results (Partial Run)</a:t>
            </a:r>
          </a:p>
          <a:p>
            <a:r>
              <a:rPr lang="en-ZA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Epoch 1:</a:t>
            </a:r>
            <a:r>
              <a:rPr lang="en-ZA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Train Accuracy = 20.9%, Val Accuracy = 0.25%, Loss = 2.236</a:t>
            </a:r>
          </a:p>
          <a:p>
            <a:r>
              <a:rPr lang="en-ZA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Epoch 2:</a:t>
            </a:r>
            <a:r>
              <a:rPr lang="en-ZA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Train Accuracy = 37.1%, Val Accuracy = 0.25%, Loss = 1.686</a:t>
            </a:r>
          </a:p>
          <a:p>
            <a:r>
              <a:rPr lang="en-ZA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Epoch 3:</a:t>
            </a:r>
            <a:r>
              <a:rPr lang="en-ZA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Train Accuracy = 43.7%, Val Accuracy = 1%, Loss = 1.532</a:t>
            </a:r>
          </a:p>
          <a:p>
            <a:r>
              <a:rPr lang="en-ZA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Observation:</a:t>
            </a:r>
            <a:endParaRPr lang="en-ZA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Z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Training accuracy improved, but </a:t>
            </a:r>
            <a:r>
              <a:rPr lang="en-ZA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validation accuracy remained very low</a:t>
            </a:r>
            <a:r>
              <a:rPr lang="en-Z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lvl="1"/>
            <a:r>
              <a:rPr lang="en-ZA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Overfitting</a:t>
            </a:r>
            <a:r>
              <a:rPr lang="en-ZA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became apparent early, leading to early stopping.</a:t>
            </a:r>
          </a:p>
          <a:p>
            <a:endParaRPr lang="en-ZA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86442-5C7C-158D-36DA-41B94047D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5018" y="2746750"/>
            <a:ext cx="4995332" cy="36491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ZA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Challenges Encountered</a:t>
            </a:r>
          </a:p>
          <a:p>
            <a:pPr marL="0" indent="0">
              <a:buNone/>
            </a:pPr>
            <a:endParaRPr lang="en-ZA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 generalization was limited by the small labelled dataset. Errors may be spread via pseudo-labels if the basic model is inaccurate. It's possible that the complex model (EfficientNetB0) was overly complex for the dataset.</a:t>
            </a:r>
          </a:p>
          <a:p>
            <a:pPr marL="0" indent="0">
              <a:buNone/>
            </a:pP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ZA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Potential Improvements</a:t>
            </a:r>
          </a:p>
          <a:p>
            <a:pPr marL="0" indent="0">
              <a:buNone/>
            </a:pPr>
            <a:endParaRPr lang="en-ZA" sz="1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 lessen overfitting, use pretrained backbones with more precise fine-tuning. Use more data augmentation techniques, such as zoom, flips, rotations, and shifts. Using predictions above a specific confidence level is known as confidence thresholding for pseudo-labels. For improved label propagation, investigate semi-supervised frameworks.</a:t>
            </a:r>
            <a:endParaRPr lang="en-ZA" sz="1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ZA" sz="1400" b="1" dirty="0"/>
          </a:p>
        </p:txBody>
      </p:sp>
    </p:spTree>
    <p:extLst>
      <p:ext uri="{BB962C8B-B14F-4D97-AF65-F5344CB8AC3E}">
        <p14:creationId xmlns:p14="http://schemas.microsoft.com/office/powerpoint/2010/main" val="1997411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AA7E-130D-990C-805B-DB93E58CA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B673E-BD9E-86CC-7977-03657B5DDC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5D5E7-F071-8648-8B18-2119CC0996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76422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05AAB-BCF4-C5CD-DB84-B5EA323D5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References </a:t>
            </a:r>
            <a:endParaRPr lang="en-ZA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019C9-3C77-2ADE-DF11-5E51A0C61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D.-H. Lee, “Pseudo‑Label: The Simple and Efficient Semi‑Supervised Learning Method for Deep Neural Networks” </a:t>
            </a:r>
          </a:p>
          <a:p>
            <a:pPr marL="0" indent="0">
              <a:buNone/>
            </a:pPr>
            <a:r>
              <a:rPr lang="en-US" dirty="0"/>
              <a:t>M. Tan and Q. V. Le, “</a:t>
            </a:r>
            <a:r>
              <a:rPr lang="en-US" dirty="0" err="1"/>
              <a:t>EfficientNet</a:t>
            </a:r>
            <a:r>
              <a:rPr lang="en-US" dirty="0"/>
              <a:t>: Rethinking Model Scaling for Convolutional Neural Networks”</a:t>
            </a:r>
          </a:p>
        </p:txBody>
      </p:sp>
    </p:spTree>
    <p:extLst>
      <p:ext uri="{BB962C8B-B14F-4D97-AF65-F5344CB8AC3E}">
        <p14:creationId xmlns:p14="http://schemas.microsoft.com/office/powerpoint/2010/main" val="30144505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84</TotalTime>
  <Words>738</Words>
  <Application>Microsoft Office PowerPoint</Application>
  <PresentationFormat>Widescreen</PresentationFormat>
  <Paragraphs>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Segoe UI</vt:lpstr>
      <vt:lpstr>Tahoma</vt:lpstr>
      <vt:lpstr>Celestial</vt:lpstr>
      <vt:lpstr>Automatically Labelling Radio Sources with Deep Learning</vt:lpstr>
      <vt:lpstr>introduction</vt:lpstr>
      <vt:lpstr>Project objectives </vt:lpstr>
      <vt:lpstr>Pseudo-Labeling Approach</vt:lpstr>
      <vt:lpstr>Dataset Preparation</vt:lpstr>
      <vt:lpstr>Methodology</vt:lpstr>
      <vt:lpstr>Results &amp; Observations</vt:lpstr>
      <vt:lpstr>PowerPoint Presentation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Lesedi Ntsele</dc:creator>
  <cp:lastModifiedBy>Lesedi Ntsele</cp:lastModifiedBy>
  <cp:revision>1</cp:revision>
  <dcterms:created xsi:type="dcterms:W3CDTF">2025-11-07T09:06:12Z</dcterms:created>
  <dcterms:modified xsi:type="dcterms:W3CDTF">2025-11-07T10:30:55Z</dcterms:modified>
</cp:coreProperties>
</file>