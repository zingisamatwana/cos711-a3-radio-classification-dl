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8" r:id="rId2"/>
    <p:sldId id="260" r:id="rId3"/>
    <p:sldId id="268" r:id="rId4"/>
    <p:sldId id="262" r:id="rId5"/>
    <p:sldId id="265" r:id="rId6"/>
    <p:sldId id="261" r:id="rId7"/>
    <p:sldId id="263" r:id="rId8"/>
    <p:sldId id="266" r:id="rId9"/>
    <p:sldId id="257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gi1ldOjg5YoNm5PjkxPIaaphVa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" name="Google Shape;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3424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3871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0556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429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7457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" name="Google Shape;10;p9" descr="Graphical user interface,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/>
          <p:nvPr/>
        </p:nvSpPr>
        <p:spPr>
          <a:xfrm>
            <a:off x="-7620" y="-7144"/>
            <a:ext cx="12207240" cy="34366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29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9" name="Google Shape;19;p12" descr="Graphical user interface,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hyperlink" Target="https://arxiv.org/pdf/1512.03385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-7620" y="3429000"/>
            <a:ext cx="12207240" cy="34375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5843" b="-15843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0" y="865188"/>
            <a:ext cx="12192000" cy="194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chemeClr val="lt2"/>
              </a:buClr>
              <a:buSzPts val="3600"/>
            </a:pPr>
            <a:r>
              <a:rPr lang="en-ZA" sz="3600" b="1" dirty="0">
                <a:solidFill>
                  <a:schemeClr val="lt1"/>
                </a:solidFill>
              </a:rPr>
              <a:t>COS711 Assignment 3</a:t>
            </a:r>
            <a:br>
              <a:rPr lang="en-US" sz="3600" b="1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600" b="1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dirty="0" err="1">
                <a:solidFill>
                  <a:schemeClr val="lt1"/>
                </a:solidFill>
              </a:rPr>
              <a:t>Zingisa</a:t>
            </a:r>
            <a:r>
              <a:rPr lang="en-US" sz="3600" dirty="0">
                <a:solidFill>
                  <a:schemeClr val="lt1"/>
                </a:solidFill>
              </a:rPr>
              <a:t> </a:t>
            </a:r>
            <a:r>
              <a:rPr lang="en-US" sz="3600" dirty="0" err="1">
                <a:solidFill>
                  <a:schemeClr val="lt1"/>
                </a:solidFill>
              </a:rPr>
              <a:t>Matwana</a:t>
            </a:r>
            <a:r>
              <a:rPr lang="en-US" sz="3600" dirty="0">
                <a:solidFill>
                  <a:schemeClr val="lt1"/>
                </a:solidFill>
              </a:rPr>
              <a:t>: u25719302</a:t>
            </a:r>
            <a:endParaRPr lang="en-US" sz="3600" dirty="0"/>
          </a:p>
          <a:p>
            <a:pPr lvl="0" algn="ctr">
              <a:lnSpc>
                <a:spcPct val="90000"/>
              </a:lnSpc>
              <a:buClr>
                <a:schemeClr val="lt2"/>
              </a:buClr>
              <a:buSzPts val="3600"/>
            </a:pPr>
            <a:endParaRPr sz="3600" b="1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3" descr="Graphical user interface,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Data Preparation</a:t>
            </a:r>
            <a:endParaRPr dirty="0"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ZA" dirty="0"/>
              <a:t>Discuss all data preparation steps taken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A26E8-4077-40B8-8FED-AF2529FEC85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Z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98902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Residual Networks Model</a:t>
            </a:r>
            <a:endParaRPr dirty="0"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989028" y="1690688"/>
            <a:ext cx="5632289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b="1" dirty="0" err="1"/>
              <a:t>ResNet</a:t>
            </a:r>
            <a:r>
              <a:rPr lang="en-US" b="1" dirty="0"/>
              <a:t> (Residual Network)</a:t>
            </a:r>
            <a:r>
              <a:rPr lang="en-US" dirty="0"/>
              <a:t> — a deep convolutional neural network introduced by </a:t>
            </a:r>
            <a:r>
              <a:rPr lang="en-US" b="1" dirty="0"/>
              <a:t>He et al., 2015</a:t>
            </a:r>
            <a:endParaRPr lang="en-ZA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dirty="0"/>
              <a:t>Designed to solve the </a:t>
            </a:r>
            <a:r>
              <a:rPr lang="en-US" b="1" dirty="0"/>
              <a:t>vanishing gradient problem</a:t>
            </a:r>
            <a:r>
              <a:rPr lang="en-US" dirty="0"/>
              <a:t> in very deep networks</a:t>
            </a:r>
            <a:endParaRPr lang="en-ZA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dirty="0"/>
              <a:t>Uses </a:t>
            </a:r>
            <a:r>
              <a:rPr lang="en-US" b="1" dirty="0"/>
              <a:t>residual (skip) connections</a:t>
            </a:r>
            <a:r>
              <a:rPr lang="en-US" dirty="0"/>
              <a:t> that allow gradients to flow directly through layers</a:t>
            </a:r>
            <a:endParaRPr lang="en-ZA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dirty="0"/>
              <a:t>Enables training of </a:t>
            </a:r>
            <a:r>
              <a:rPr lang="en-US" b="1" dirty="0"/>
              <a:t>very deep models (50+ layers)</a:t>
            </a:r>
            <a:r>
              <a:rPr lang="en-US" dirty="0"/>
              <a:t> without performance degradation</a:t>
            </a:r>
            <a:endParaRPr lang="en-ZA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b="1" dirty="0"/>
              <a:t>ResNet-50</a:t>
            </a:r>
            <a:r>
              <a:rPr lang="en-US" dirty="0"/>
              <a:t> specifically has:</a:t>
            </a:r>
          </a:p>
          <a:p>
            <a:pPr marL="800100" lvl="1" indent="-342900"/>
            <a:r>
              <a:rPr lang="en-US" dirty="0"/>
              <a:t>49 convolutional layers + 1 fully connected output layer</a:t>
            </a:r>
          </a:p>
          <a:p>
            <a:pPr marL="800100" lvl="1" indent="-342900"/>
            <a:r>
              <a:rPr lang="en-US" dirty="0"/>
              <a:t>~25 million parameters</a:t>
            </a:r>
          </a:p>
          <a:p>
            <a:pPr marL="800100" lvl="1" indent="-342900"/>
            <a:r>
              <a:rPr lang="en-US" dirty="0"/>
              <a:t>Pretrained on </a:t>
            </a:r>
            <a:r>
              <a:rPr lang="en-US" b="1" dirty="0"/>
              <a:t>ImageNet (1.2M natural images, 1000 classes)</a:t>
            </a:r>
          </a:p>
          <a:p>
            <a:pPr marL="800100" lvl="1" indent="-342900"/>
            <a:r>
              <a:rPr lang="en-US" dirty="0"/>
              <a:t>Acts as a </a:t>
            </a:r>
            <a:r>
              <a:rPr lang="en-US" b="1" dirty="0"/>
              <a:t>universal feature extractor</a:t>
            </a:r>
            <a:r>
              <a:rPr lang="en-US" dirty="0"/>
              <a:t> — lower layers capture edges/textures, upper layers adapt to task-specific shapes</a:t>
            </a:r>
            <a:endParaRPr lang="en-ZA"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A26E8-4077-40B8-8FED-AF2529FEC85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23029" y="1434792"/>
            <a:ext cx="5181600" cy="3842859"/>
          </a:xfrm>
        </p:spPr>
        <p:txBody>
          <a:bodyPr>
            <a:normAutofit/>
          </a:bodyPr>
          <a:lstStyle/>
          <a:p>
            <a:r>
              <a:rPr lang="en-ZA" sz="1500" dirty="0" err="1">
                <a:solidFill>
                  <a:schemeClr val="bg2"/>
                </a:solidFill>
              </a:rPr>
              <a:t>ResNet</a:t>
            </a:r>
            <a:r>
              <a:rPr lang="en-ZA" sz="1500" dirty="0">
                <a:solidFill>
                  <a:schemeClr val="bg2"/>
                </a:solidFill>
              </a:rPr>
              <a:t>: Residual learning block</a:t>
            </a:r>
            <a:endParaRPr lang="en-ZA" sz="15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5A3EF8B-76DF-4562-8C09-20A5D5D28FBB}"/>
              </a:ext>
            </a:extLst>
          </p:cNvPr>
          <p:cNvGrpSpPr/>
          <p:nvPr/>
        </p:nvGrpSpPr>
        <p:grpSpPr>
          <a:xfrm>
            <a:off x="7010966" y="1949731"/>
            <a:ext cx="2764629" cy="2537140"/>
            <a:chOff x="6916698" y="2072279"/>
            <a:chExt cx="2764629" cy="253714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EE4960-8099-4961-B340-AC669D328681}"/>
                </a:ext>
              </a:extLst>
            </p:cNvPr>
            <p:cNvSpPr txBox="1"/>
            <p:nvPr/>
          </p:nvSpPr>
          <p:spPr>
            <a:xfrm>
              <a:off x="7424897" y="2439906"/>
              <a:ext cx="1244251" cy="307777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weight layer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997E127-B771-47BF-950F-6E99F373F1A1}"/>
                </a:ext>
              </a:extLst>
            </p:cNvPr>
            <p:cNvSpPr txBox="1"/>
            <p:nvPr/>
          </p:nvSpPr>
          <p:spPr>
            <a:xfrm>
              <a:off x="7475277" y="3313277"/>
              <a:ext cx="1140056" cy="307777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/>
                  </a:solidFill>
                </a:rPr>
                <a:t>weight layer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CBC250EC-0C5C-446E-960C-C9A5714172F2}"/>
                </a:ext>
              </a:extLst>
            </p:cNvPr>
            <p:cNvCxnSpPr>
              <a:cxnSpLocks/>
              <a:stCxn id="65" idx="3"/>
              <a:endCxn id="25" idx="6"/>
            </p:cNvCxnSpPr>
            <p:nvPr/>
          </p:nvCxnSpPr>
          <p:spPr>
            <a:xfrm>
              <a:off x="8045304" y="2210745"/>
              <a:ext cx="117769" cy="1936958"/>
            </a:xfrm>
            <a:prstGeom prst="bentConnector3">
              <a:avLst>
                <a:gd name="adj1" fmla="val 934467"/>
              </a:avLst>
            </a:prstGeom>
            <a:ln>
              <a:solidFill>
                <a:schemeClr val="accent6">
                  <a:lumMod val="1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04E2A86-AE86-4A62-8FE1-8E4612BFEA92}"/>
                    </a:ext>
                  </a:extLst>
                </p:cNvPr>
                <p:cNvSpPr txBox="1"/>
                <p:nvPr/>
              </p:nvSpPr>
              <p:spPr>
                <a:xfrm>
                  <a:off x="6916698" y="2892738"/>
                  <a:ext cx="355355" cy="2305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04E2A86-AE86-4A62-8FE1-8E4612BFEA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6698" y="2892738"/>
                  <a:ext cx="355355" cy="230576"/>
                </a:xfrm>
                <a:prstGeom prst="rect">
                  <a:avLst/>
                </a:prstGeom>
                <a:blipFill>
                  <a:blip r:embed="rId3"/>
                  <a:stretch>
                    <a:fillRect l="-10345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C1F5CF5-13C1-4265-A56D-92D0FA52C05C}"/>
                    </a:ext>
                  </a:extLst>
                </p:cNvPr>
                <p:cNvSpPr txBox="1"/>
                <p:nvPr/>
              </p:nvSpPr>
              <p:spPr>
                <a:xfrm>
                  <a:off x="6956017" y="4034709"/>
                  <a:ext cx="671401" cy="2305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sub>
                        </m:sSub>
                        <m:r>
                          <a:rPr lang="en-US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C1F5CF5-13C1-4265-A56D-92D0FA52C0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6017" y="4034709"/>
                  <a:ext cx="671401" cy="230576"/>
                </a:xfrm>
                <a:prstGeom prst="rect">
                  <a:avLst/>
                </a:prstGeom>
                <a:blipFill>
                  <a:blip r:embed="rId4"/>
                  <a:stretch>
                    <a:fillRect l="-5455" r="-909"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lowchart: Or 24">
              <a:extLst>
                <a:ext uri="{FF2B5EF4-FFF2-40B4-BE49-F238E27FC236}">
                  <a16:creationId xmlns:a16="http://schemas.microsoft.com/office/drawing/2014/main" id="{E38BB286-DB46-4966-876C-53CB607857A2}"/>
                </a:ext>
              </a:extLst>
            </p:cNvPr>
            <p:cNvSpPr/>
            <p:nvPr/>
          </p:nvSpPr>
          <p:spPr>
            <a:xfrm>
              <a:off x="7927534" y="4052624"/>
              <a:ext cx="235539" cy="190158"/>
            </a:xfrm>
            <a:prstGeom prst="flowChartOr">
              <a:avLst/>
            </a:prstGeom>
            <a:solidFill>
              <a:schemeClr val="tx2">
                <a:lumMod val="85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74855D3-71D6-4A06-B2D2-68A8F12DC81F}"/>
                </a:ext>
              </a:extLst>
            </p:cNvPr>
            <p:cNvCxnSpPr>
              <a:cxnSpLocks/>
              <a:stCxn id="25" idx="4"/>
            </p:cNvCxnSpPr>
            <p:nvPr/>
          </p:nvCxnSpPr>
          <p:spPr>
            <a:xfrm>
              <a:off x="8045305" y="4242781"/>
              <a:ext cx="1" cy="3364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487CB3F-0425-4E80-B8B8-744B7C22822D}"/>
                </a:ext>
              </a:extLst>
            </p:cNvPr>
            <p:cNvCxnSpPr>
              <a:cxnSpLocks/>
              <a:stCxn id="8" idx="2"/>
              <a:endCxn id="25" idx="0"/>
            </p:cNvCxnSpPr>
            <p:nvPr/>
          </p:nvCxnSpPr>
          <p:spPr>
            <a:xfrm flipH="1">
              <a:off x="8045305" y="3621054"/>
              <a:ext cx="1" cy="4315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92F5549-E7C8-42E7-8C2E-E61FC9216371}"/>
                </a:ext>
              </a:extLst>
            </p:cNvPr>
            <p:cNvCxnSpPr>
              <a:cxnSpLocks/>
              <a:stCxn id="5" idx="2"/>
              <a:endCxn id="8" idx="0"/>
            </p:cNvCxnSpPr>
            <p:nvPr/>
          </p:nvCxnSpPr>
          <p:spPr>
            <a:xfrm flipH="1">
              <a:off x="8045305" y="2747682"/>
              <a:ext cx="1718" cy="5655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8E5DC77-205E-43C7-9D8E-4CA1AB010D70}"/>
                    </a:ext>
                  </a:extLst>
                </p:cNvPr>
                <p:cNvSpPr txBox="1"/>
                <p:nvPr/>
              </p:nvSpPr>
              <p:spPr>
                <a:xfrm>
                  <a:off x="8104189" y="4393975"/>
                  <a:ext cx="4457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𝑟𝑒𝑙𝑢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8E5DC77-205E-43C7-9D8E-4CA1AB010D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4189" y="4393975"/>
                  <a:ext cx="445724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2740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08C1F7-A323-4F8C-8395-8B6B1C7EE2F8}"/>
                    </a:ext>
                  </a:extLst>
                </p:cNvPr>
                <p:cNvSpPr txBox="1"/>
                <p:nvPr/>
              </p:nvSpPr>
              <p:spPr>
                <a:xfrm>
                  <a:off x="9235603" y="2667880"/>
                  <a:ext cx="4457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F08C1F7-A323-4F8C-8395-8B6B1C7EE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5603" y="2667880"/>
                  <a:ext cx="445724" cy="21544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3CDE33D-3565-4AE1-8E6A-84760C56FC8E}"/>
                    </a:ext>
                  </a:extLst>
                </p:cNvPr>
                <p:cNvSpPr txBox="1"/>
                <p:nvPr/>
              </p:nvSpPr>
              <p:spPr>
                <a:xfrm>
                  <a:off x="9182424" y="2913309"/>
                  <a:ext cx="4457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𝑖𝑑𝑒𝑛𝑡𝑖𝑡𝑦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3CDE33D-3565-4AE1-8E6A-84760C56FC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2424" y="2913309"/>
                  <a:ext cx="445724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19178" r="-61644" b="-3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52E2B02-16E8-4B45-8BD1-6DD2C94ECE5A}"/>
                    </a:ext>
                  </a:extLst>
                </p:cNvPr>
                <p:cNvSpPr txBox="1"/>
                <p:nvPr/>
              </p:nvSpPr>
              <p:spPr>
                <a:xfrm>
                  <a:off x="8043394" y="2892738"/>
                  <a:ext cx="4457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𝑟𝑒𝑙𝑢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52E2B02-16E8-4B45-8BD1-6DD2C94EC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3394" y="2892738"/>
                  <a:ext cx="445724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2740"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B995210-CC58-4FD1-8186-64F05B637BCC}"/>
                    </a:ext>
                  </a:extLst>
                </p:cNvPr>
                <p:cNvSpPr txBox="1"/>
                <p:nvPr/>
              </p:nvSpPr>
              <p:spPr>
                <a:xfrm>
                  <a:off x="7599580" y="2103023"/>
                  <a:ext cx="44572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B995210-CC58-4FD1-8186-64F05B637B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9580" y="2103023"/>
                  <a:ext cx="445724" cy="21544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3BAB45EA-D742-49AF-8C71-8D4A1EC4CF84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8047024" y="2072279"/>
              <a:ext cx="0" cy="3676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AA1AB119-CB11-4E5A-BF4C-9F4A6B1E5498}"/>
              </a:ext>
            </a:extLst>
          </p:cNvPr>
          <p:cNvSpPr txBox="1"/>
          <p:nvPr/>
        </p:nvSpPr>
        <p:spPr>
          <a:xfrm>
            <a:off x="989029" y="6042581"/>
            <a:ext cx="78627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2"/>
                </a:solidFill>
              </a:rPr>
              <a:t>K. He, X. Zhang, S. Ren, and J. Sun</a:t>
            </a:r>
            <a:r>
              <a:rPr lang="en-US" sz="1000" dirty="0">
                <a:solidFill>
                  <a:schemeClr val="bg2"/>
                </a:solidFill>
              </a:rPr>
              <a:t>, “Deep Residual Learning for Image Recognition,” </a:t>
            </a:r>
            <a:r>
              <a:rPr lang="en-US" sz="1000" i="1" dirty="0">
                <a:solidFill>
                  <a:schemeClr val="bg2"/>
                </a:solidFill>
              </a:rPr>
              <a:t>in Proceedings of the IEEE Conference on Computer Vision and Pattern Recognition (CVPR)</a:t>
            </a:r>
            <a:r>
              <a:rPr lang="en-US" sz="1000" dirty="0">
                <a:solidFill>
                  <a:schemeClr val="bg2"/>
                </a:solidFill>
              </a:rPr>
              <a:t>, Las Vegas, NV, USA, 2016, pp. 770–778. [Online]. Available: </a:t>
            </a:r>
            <a:r>
              <a:rPr lang="en-US" sz="1000" dirty="0">
                <a:solidFill>
                  <a:schemeClr val="bg2"/>
                </a:solidFill>
                <a:hlinkClick r:id="rId10"/>
              </a:rPr>
              <a:t>https://arxiv.org/pdf/1512.03385</a:t>
            </a:r>
            <a:endParaRPr lang="en-US" sz="1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583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Fine-Tuning ResNet-50 for Radio Galaxy Morphology Classification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94788"/>
            <a:ext cx="8371787" cy="428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b="1" dirty="0"/>
              <a:t>Base Model:</a:t>
            </a:r>
            <a:r>
              <a:rPr lang="en-US" sz="1700" dirty="0"/>
              <a:t> Pretrained ResNet-50 with ImageNet weights</a:t>
            </a:r>
            <a:endParaRPr sz="1700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b="1" dirty="0"/>
              <a:t>Objective:</a:t>
            </a:r>
            <a:r>
              <a:rPr lang="en-US" sz="1700" dirty="0"/>
              <a:t> Classify </a:t>
            </a:r>
            <a:r>
              <a:rPr lang="en-US" sz="1700" b="1" dirty="0" err="1"/>
              <a:t>MeerKAT</a:t>
            </a:r>
            <a:r>
              <a:rPr lang="en-US" sz="1700" b="1" dirty="0"/>
              <a:t> radio galaxy</a:t>
            </a:r>
            <a:r>
              <a:rPr lang="en-US" sz="1700" dirty="0"/>
              <a:t> images into </a:t>
            </a:r>
            <a:r>
              <a:rPr lang="en-US" sz="1700" b="1" dirty="0"/>
              <a:t>9 morphology classes</a:t>
            </a:r>
            <a:endParaRPr sz="1700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b="1" dirty="0"/>
              <a:t>Classes:</a:t>
            </a:r>
            <a:r>
              <a:rPr lang="en-US" sz="1700" dirty="0"/>
              <a:t> FR I, FR II, Bent, Point Source, Typical, S/Z-shaped, X-shaped, Exotic, and Discarded</a:t>
            </a:r>
            <a:endParaRPr sz="1700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b="1" dirty="0"/>
              <a:t>Data Split:</a:t>
            </a:r>
            <a:r>
              <a:rPr lang="en-US" sz="1700" dirty="0"/>
              <a:t> 80% training / 20% validation (stratified by class)</a:t>
            </a:r>
            <a:endParaRPr sz="1700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dirty="0"/>
              <a:t>Training Setup:</a:t>
            </a:r>
          </a:p>
          <a:p>
            <a:pPr marL="800100" lvl="1" indent="-342900"/>
            <a:r>
              <a:rPr lang="en-US" sz="1700" dirty="0"/>
              <a:t>Batch = 32, Learning Rate = 1 x 10⁻⁴, Epochs = 25</a:t>
            </a:r>
          </a:p>
          <a:p>
            <a:pPr marL="800100" lvl="1" indent="-342900"/>
            <a:r>
              <a:rPr lang="en-US" sz="1700" dirty="0"/>
              <a:t>Early stopping enabled</a:t>
            </a:r>
          </a:p>
          <a:p>
            <a:pPr marL="800100" lvl="1" indent="-342900"/>
            <a:r>
              <a:rPr lang="en-US" sz="1700" dirty="0"/>
              <a:t>Training executed on CPU (no GPU acceleration)</a:t>
            </a:r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dirty="0"/>
              <a:t>Fine-Tuning Strategy:</a:t>
            </a:r>
          </a:p>
          <a:p>
            <a:pPr marL="800100" lvl="1" indent="-342900"/>
            <a:r>
              <a:rPr lang="en-US" sz="1700" dirty="0"/>
              <a:t>Lower convolutional layers </a:t>
            </a:r>
            <a:r>
              <a:rPr lang="en-US" sz="1700" b="1" dirty="0"/>
              <a:t>frozen</a:t>
            </a:r>
            <a:r>
              <a:rPr lang="en-US" sz="1700" dirty="0"/>
              <a:t> to retain general visual features</a:t>
            </a:r>
          </a:p>
          <a:p>
            <a:pPr marL="800100" lvl="1" indent="-342900"/>
            <a:r>
              <a:rPr lang="en-US" sz="1700" dirty="0"/>
              <a:t>Upper layers </a:t>
            </a:r>
            <a:r>
              <a:rPr lang="en-US" sz="1700" b="1" dirty="0"/>
              <a:t>unfrozen and optimized</a:t>
            </a:r>
            <a:r>
              <a:rPr lang="en-US" sz="1700" dirty="0"/>
              <a:t> for domain-specific radio morphology patterns</a:t>
            </a:r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sz="1700" dirty="0"/>
          </a:p>
        </p:txBody>
      </p:sp>
    </p:spTree>
    <p:extLst>
      <p:ext uri="{BB962C8B-B14F-4D97-AF65-F5344CB8AC3E}">
        <p14:creationId xmlns:p14="http://schemas.microsoft.com/office/powerpoint/2010/main" val="4289600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Model Training and Convergence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508289"/>
            <a:ext cx="7523375" cy="483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b="1" dirty="0"/>
              <a:t>Training loss</a:t>
            </a:r>
            <a:r>
              <a:rPr lang="en-US" sz="1700" dirty="0"/>
              <a:t> steadily decreased from </a:t>
            </a:r>
            <a:r>
              <a:rPr lang="en-US" sz="1700" b="1" dirty="0"/>
              <a:t>2.14  to 1.29</a:t>
            </a:r>
            <a:r>
              <a:rPr lang="en-US" sz="1700" dirty="0"/>
              <a:t> across 19 epochs</a:t>
            </a:r>
            <a:endParaRPr sz="1700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b="1" dirty="0"/>
              <a:t>Validation loss</a:t>
            </a:r>
            <a:r>
              <a:rPr lang="en-US" sz="1700" dirty="0"/>
              <a:t> </a:t>
            </a:r>
            <a:r>
              <a:rPr lang="en-US" sz="1700" dirty="0" err="1"/>
              <a:t>stabilised</a:t>
            </a:r>
            <a:r>
              <a:rPr lang="en-US" sz="1700" dirty="0"/>
              <a:t> around </a:t>
            </a:r>
            <a:r>
              <a:rPr lang="en-US" sz="1700" b="1" dirty="0"/>
              <a:t>1.9</a:t>
            </a:r>
            <a:r>
              <a:rPr lang="en-US" sz="1700" dirty="0"/>
              <a:t>, indicating controlled </a:t>
            </a:r>
            <a:r>
              <a:rPr lang="en-US" sz="1700" dirty="0" err="1"/>
              <a:t>generalisation</a:t>
            </a:r>
            <a:endParaRPr sz="1700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dirty="0"/>
              <a:t>Best checkpoint saved at Epoch 13</a:t>
            </a:r>
          </a:p>
          <a:p>
            <a:pPr marL="800100" lvl="1" indent="-342900"/>
            <a:r>
              <a:rPr lang="en-US" sz="1700" b="1" dirty="0"/>
              <a:t>Macro-F1 = 0.3112</a:t>
            </a:r>
            <a:r>
              <a:rPr lang="en-US" sz="1700" dirty="0"/>
              <a:t>, </a:t>
            </a:r>
            <a:r>
              <a:rPr lang="en-US" sz="1700" b="1" dirty="0"/>
              <a:t>Accuracy = 0.44</a:t>
            </a:r>
          </a:p>
          <a:p>
            <a:pPr marL="800100" lvl="1" indent="-342900"/>
            <a:r>
              <a:rPr lang="en-US" sz="1700" b="1" dirty="0"/>
              <a:t>Early stopping</a:t>
            </a:r>
            <a:r>
              <a:rPr lang="en-US" sz="1700" dirty="0"/>
              <a:t> triggered after 6 epochs with no further F1 gain</a:t>
            </a:r>
            <a:endParaRPr sz="1700" dirty="0"/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r>
              <a:rPr lang="en-US" sz="1700" dirty="0"/>
              <a:t>Key Performing Classes:</a:t>
            </a:r>
          </a:p>
          <a:p>
            <a:pPr marL="800100" lvl="1" indent="-342900"/>
            <a:r>
              <a:rPr lang="en-US" sz="1700" b="1" dirty="0"/>
              <a:t>Point Source (F1 ≈ 0.66)</a:t>
            </a:r>
            <a:r>
              <a:rPr lang="en-US" sz="1700" dirty="0"/>
              <a:t> - distinct compact intensity regions</a:t>
            </a:r>
          </a:p>
          <a:p>
            <a:pPr marL="800100" lvl="1" indent="-342900"/>
            <a:r>
              <a:rPr lang="en-US" sz="1700" b="1" dirty="0"/>
              <a:t>FR II (F1 ≈ 0.49)</a:t>
            </a:r>
            <a:r>
              <a:rPr lang="en-US" sz="1700" dirty="0"/>
              <a:t> - well-defined double-lobe morphology</a:t>
            </a:r>
          </a:p>
          <a:p>
            <a:pPr marL="800100" lvl="1" indent="-342900"/>
            <a:r>
              <a:rPr lang="en-US" sz="1700" b="1" dirty="0"/>
              <a:t>FR I (F1 ≈ 0.39)</a:t>
            </a:r>
            <a:r>
              <a:rPr lang="en-US" sz="1700" dirty="0"/>
              <a:t> - moderate separability from background</a:t>
            </a:r>
          </a:p>
          <a:p>
            <a:pPr marL="342900" indent="-342900">
              <a:buClr>
                <a:schemeClr val="accent2"/>
              </a:buClr>
              <a:buFont typeface="Arial"/>
              <a:buChar char="•"/>
            </a:pPr>
            <a:r>
              <a:rPr lang="en-US" sz="1700" dirty="0"/>
              <a:t>Minority classes (</a:t>
            </a:r>
            <a:r>
              <a:rPr lang="en-US" sz="1700" b="1" dirty="0"/>
              <a:t>X-shaped, S/Z-shaped, Exotic</a:t>
            </a:r>
            <a:r>
              <a:rPr lang="en-US" sz="1700" dirty="0"/>
              <a:t>) remained under-represented and difficult to classify</a:t>
            </a:r>
          </a:p>
          <a:p>
            <a:pPr marL="342900" lvl="0" indent="-342900">
              <a:buClr>
                <a:schemeClr val="accent2"/>
              </a:buClr>
              <a:buFont typeface="Arial"/>
              <a:buChar char="•"/>
            </a:pPr>
            <a:endParaRPr sz="1700"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sz="1700" dirty="0"/>
          </a:p>
        </p:txBody>
      </p:sp>
    </p:spTree>
    <p:extLst>
      <p:ext uri="{BB962C8B-B14F-4D97-AF65-F5344CB8AC3E}">
        <p14:creationId xmlns:p14="http://schemas.microsoft.com/office/powerpoint/2010/main" val="158115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Results: Classification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ZA" dirty="0"/>
              <a:t>How well did your classifier do on the various classes? Were some classes handled better than others?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ZA" dirty="0"/>
              <a:t>Results: Classification Enhancement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ZA" dirty="0"/>
              <a:t>How did pseudo-labelling and other methods applied affect the labelling?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001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FF180E-CAC9-46FF-9FF5-5C652BE35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	Show a sample of previously unlabelled images together with the labels assigned by your model, and discuss if the labels seem viable.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E3793-DE6F-4F93-AB21-DEE19482E45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EDB828-BA66-41B9-85F2-9CC26440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Qualitative Analysis: </a:t>
            </a:r>
            <a:br>
              <a:rPr lang="en-ZA" dirty="0"/>
            </a:br>
            <a:r>
              <a:rPr lang="en-ZA" dirty="0"/>
              <a:t>Automatically Labelled Sample</a:t>
            </a:r>
          </a:p>
        </p:txBody>
      </p:sp>
    </p:spTree>
    <p:extLst>
      <p:ext uri="{BB962C8B-B14F-4D97-AF65-F5344CB8AC3E}">
        <p14:creationId xmlns:p14="http://schemas.microsoft.com/office/powerpoint/2010/main" val="3629897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6995160" y="-7620"/>
            <a:ext cx="5204460" cy="68744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8936" r="-48938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>
            <a:spLocks noGrp="1"/>
          </p:cNvSpPr>
          <p:nvPr>
            <p:ph type="title"/>
          </p:nvPr>
        </p:nvSpPr>
        <p:spPr>
          <a:xfrm>
            <a:off x="403860" y="365125"/>
            <a:ext cx="635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Conclusions</a:t>
            </a:r>
            <a:endParaRPr dirty="0"/>
          </a:p>
        </p:txBody>
      </p:sp>
      <p:sp>
        <p:nvSpPr>
          <p:cNvPr id="34" name="Google Shape;34;p2"/>
          <p:cNvSpPr txBox="1">
            <a:spLocks noGrp="1"/>
          </p:cNvSpPr>
          <p:nvPr>
            <p:ph type="body" idx="1"/>
          </p:nvPr>
        </p:nvSpPr>
        <p:spPr>
          <a:xfrm>
            <a:off x="403860" y="1825625"/>
            <a:ext cx="63550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Very general conclusions about the assignment that you have done. 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ZA" dirty="0"/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This section ``answers'' the questions and issues that you have raised and investigated. 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ZA" dirty="0"/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This section is, in general, a summary of what you have done, what the results were, and finally what you concluded from these results</a:t>
            </a:r>
            <a:endParaRPr dirty="0"/>
          </a:p>
        </p:txBody>
      </p:sp>
      <p:pic>
        <p:nvPicPr>
          <p:cNvPr id="35" name="Google Shape;35;p2" descr="Graphical user interface,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6995160" y="-7620"/>
            <a:ext cx="5204460" cy="68744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8936" r="-48938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>
            <a:spLocks noGrp="1"/>
          </p:cNvSpPr>
          <p:nvPr>
            <p:ph type="title"/>
          </p:nvPr>
        </p:nvSpPr>
        <p:spPr>
          <a:xfrm>
            <a:off x="403860" y="365125"/>
            <a:ext cx="635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Bibliography</a:t>
            </a:r>
            <a:endParaRPr dirty="0"/>
          </a:p>
        </p:txBody>
      </p:sp>
      <p:sp>
        <p:nvSpPr>
          <p:cNvPr id="34" name="Google Shape;34;p2"/>
          <p:cNvSpPr txBox="1">
            <a:spLocks noGrp="1"/>
          </p:cNvSpPr>
          <p:nvPr>
            <p:ph type="body" idx="1"/>
          </p:nvPr>
        </p:nvSpPr>
        <p:spPr>
          <a:xfrm>
            <a:off x="403860" y="1825625"/>
            <a:ext cx="63550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Paper 1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Paper 2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Website 3</a:t>
            </a:r>
            <a:endParaRPr dirty="0"/>
          </a:p>
        </p:txBody>
      </p:sp>
      <p:pic>
        <p:nvPicPr>
          <p:cNvPr id="35" name="Google Shape;35;p2" descr="Graphical user interface,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4198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">
      <a:dk1>
        <a:srgbClr val="000000"/>
      </a:dk1>
      <a:lt1>
        <a:srgbClr val="FFFFFF"/>
      </a:lt1>
      <a:dk2>
        <a:srgbClr val="005BAA"/>
      </a:dk2>
      <a:lt2>
        <a:srgbClr val="FFFFFF"/>
      </a:lt2>
      <a:accent1>
        <a:srgbClr val="005BAA"/>
      </a:accent1>
      <a:accent2>
        <a:srgbClr val="D71C33"/>
      </a:accent2>
      <a:accent3>
        <a:srgbClr val="C48B3B"/>
      </a:accent3>
      <a:accent4>
        <a:srgbClr val="5C5C61"/>
      </a:accent4>
      <a:accent5>
        <a:srgbClr val="A19C9B"/>
      </a:accent5>
      <a:accent6>
        <a:srgbClr val="D7D2D1"/>
      </a:accent6>
      <a:hlink>
        <a:srgbClr val="005BAA"/>
      </a:hlink>
      <a:folHlink>
        <a:srgbClr val="D71C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543</Words>
  <Application>Microsoft Office PowerPoint</Application>
  <PresentationFormat>Widescreen</PresentationFormat>
  <Paragraphs>77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Cambria Math</vt:lpstr>
      <vt:lpstr>Sans Serif Collection</vt:lpstr>
      <vt:lpstr>Office Theme</vt:lpstr>
      <vt:lpstr>PowerPoint Presentation</vt:lpstr>
      <vt:lpstr>Data Preparation</vt:lpstr>
      <vt:lpstr>Residual Networks Model</vt:lpstr>
      <vt:lpstr>Fine-Tuning ResNet-50 for Radio Galaxy Morphology Classification</vt:lpstr>
      <vt:lpstr>Model Training and Convergence</vt:lpstr>
      <vt:lpstr>Results: Classification</vt:lpstr>
      <vt:lpstr>Results: Classification Enhancement</vt:lpstr>
      <vt:lpstr>Qualitative Analysis:  Automatically Labelled Sample</vt:lpstr>
      <vt:lpstr>Conclusions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Carissa Botha</dc:creator>
  <cp:lastModifiedBy>user</cp:lastModifiedBy>
  <cp:revision>16</cp:revision>
  <dcterms:created xsi:type="dcterms:W3CDTF">2022-03-28T12:27:33Z</dcterms:created>
  <dcterms:modified xsi:type="dcterms:W3CDTF">2025-11-02T09:28:16Z</dcterms:modified>
</cp:coreProperties>
</file>